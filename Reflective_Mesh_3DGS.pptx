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21945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05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Reflective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Objects in a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Scene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7772400" cy="228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478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Multi-Tier Reflection System: SSR · Reflection Probe · IBL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04164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PlayCanvas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404164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404164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404164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404164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 (3DGS)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14984"/>
            <a:ext cx="4937760" cy="3808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scenes as millions of 3D Gaussian "splats"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splat encodes: position, covariance (shape), opacity, and spherical-harmonic colour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by projecting 3D Gaussians onto the 2D screen as ellipses, sorted back-to-front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photorealistic novel-view synthesis at real-time frame rates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geometry — purely volumetric point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94960" y="1014984"/>
            <a:ext cx="33832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106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42646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G(x) = exp( -½ (x−μ)ᵀ Σ⁻¹ (x−μ) 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94960" y="194767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centre position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3D covariance matrix (shape &amp; orientation)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2569464"/>
            <a:ext cx="1600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2569464"/>
            <a:ext cx="160020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6609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4960" y="2898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 in world 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2569464"/>
            <a:ext cx="1600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569464"/>
            <a:ext cx="160020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26609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2898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+ scale matrix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3438144"/>
            <a:ext cx="1600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3438144"/>
            <a:ext cx="1600200" cy="3657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5295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37673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transmittance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3438144"/>
            <a:ext cx="1600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3438144"/>
            <a:ext cx="160020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35295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Colour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37673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View-dependent radiance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— Reflective Objects in a Gaussian World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14984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scenes are immutable point clouds — traditional PBR materials expect a skybox or cubemap, but 3DGS has no geometry to reflect off. Result: black reflections by default.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09344"/>
            <a:ext cx="40233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09344"/>
            <a:ext cx="402336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Compositing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202996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Meshes placed on the default World layer render before the splat pass → they appear buried inside the point cloud, not on top of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3392424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3924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Custom meshLayer inserted after splatLayer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6008" y="1609344"/>
            <a:ext cx="40233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609344"/>
            <a:ext cx="4023360" cy="36576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1700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Reflection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4024" y="202996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materials need a pre-filtered envAtlas sampled from the scene environment. Without one, metallic and glass surfaces render solid black.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64024" y="3392424"/>
            <a:ext cx="374904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33924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3-tier reflection pipeline (SSR → Probe → Fallback)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54914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problem can be solved with CSS z-index — both require operating inside the WebGL render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Compositing via Render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457200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0149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52928" y="10149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objects (behind splats)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95728" y="16093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700784"/>
            <a:ext cx="4572000" cy="59436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007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52928" y="17007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rasterisation — MRT pass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95728" y="22951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386584"/>
            <a:ext cx="45720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3865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52928" y="23865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reflective mesh objects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01768" y="2551176"/>
            <a:ext cx="45720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5511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95728" y="298094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072384"/>
            <a:ext cx="4572000" cy="594360"/>
          </a:xfrm>
          <a:prstGeom prst="rect">
            <a:avLst/>
          </a:prstGeom>
          <a:solidFill>
            <a:srgbClr val="2A1A2A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723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Gizmo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52928" y="307238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handles (translate / rotate / scale)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01768" y="3236976"/>
            <a:ext cx="457200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236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03520" y="1014984"/>
            <a:ext cx="3474720" cy="2240280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106424"/>
            <a:ext cx="32461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new layers after splatLayer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idx = comp.getLayerIndex(splatLayer) + 1;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comp.insertOpaque(meshLayer,  idx);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comp.insertOpaque(gizmoLayer, idx + 1);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 mesh render component to meshLayer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entity.render.layers = [scene.meshLayer.id];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0" y="3392424"/>
            <a:ext cx="34747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483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37033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depth-buffer tricks needed — layer ordering alone ensures meshes always appear on top of the 3DGS point cloud.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How PBR Materials Compute Reflections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8375904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Rendering Equation (simplified)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07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L_out(ω_o) = ∫  f_r(ω_i, ω_o) · L_in(ω_i) · cos θ_i  dω_i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84048" y="1929384"/>
            <a:ext cx="2697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842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22219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42316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surface scatters incoming light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929384"/>
            <a:ext cx="2697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842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L_in(ω_i)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2219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Radiance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arriving from direction ω_i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16752" y="1929384"/>
            <a:ext cx="269748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9842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∫...dω_i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16752" y="222199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Hemisphere Integral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16752" y="242316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pre-computed or approximated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2843784"/>
            <a:ext cx="8375904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9169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Split-Sum Approximation  (Epic Games / Unreal, SIGGRAPH 2013)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1912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L_out  ≈   [ ∫ L_in(ω_i) · D(ω_i) dω_i ]   ×   [ F(ω_o) · G(ω_o) 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3648456"/>
            <a:ext cx="393192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Pre-filtered Environment Map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3941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We must supply this!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3DGS scene as an IBL atlas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18888" y="3648456"/>
            <a:ext cx="393192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7124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BRDF Lookup Table (LUT)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0328" y="3941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(F) × Geometry (G) precomputed and stored as a 2D texture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Pipeline — Three-Tier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2724912" cy="3808476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14984"/>
            <a:ext cx="2724912" cy="457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06424"/>
            <a:ext cx="502920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064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Screen-Space Reflections (SSR)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9293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11226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Per-fragment ray march across the 2D screen toward the reflection direction. Samples the pre-captured 3DGS color buffer.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2990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29900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updates every 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bake cost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accuracy for on-screen content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3721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reflect off-screen objects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edges → black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1014984"/>
            <a:ext cx="2724912" cy="380847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014984"/>
            <a:ext cx="2724912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106424"/>
            <a:ext cx="502920" cy="23774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1064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399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Probe  (6-face cube capture)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19293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211226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3DGS from 6 orthogonal directions at the mesh's world position. Merges into a pre-filtered IBL atlas.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28416" y="2990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93008" y="29900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sphere coverage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correct IBL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Re-bakes automatically on move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3721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93008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— takes ~6 render frames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screen freeze during capture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1014984"/>
            <a:ext cx="2724912" cy="3808476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014984"/>
            <a:ext cx="2724912" cy="4572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106424"/>
            <a:ext cx="502920" cy="23774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1064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1399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Capture Fallback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63056" y="19293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2112264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Grabs the current rendered frame and reprojects it as an equirect texture. Builds an envAtlas in one frame.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3056" y="2990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27648" y="299008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single frame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63056" y="372160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27648" y="3721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front-facing hemisphere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directions remain black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4567428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 →  Fallback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Screen-Space Reflections: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149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0241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fragUV = gl_FragCoord.xy / screenSize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24358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fragment's screen position (0..1)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56362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63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57276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reflUV = project(worldPos + reflDir × 20)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79222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reflected world point onto screen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11226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12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1214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= reflUV − fragUV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34086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direction in screen space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66090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609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6700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= clamp(|dir| × size × 0.25, 4, 48)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88950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 count (4 to 48 steps)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20954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095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2186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along dir until luminance &gt; 0.15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43814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non-background pixel = reflected colour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758184"/>
            <a:ext cx="274320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58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76732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edge-fade × gloss-fade → dReflection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98678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at screen borders; rough = dim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1014984"/>
            <a:ext cx="3685032" cy="3808476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2936" y="1106424"/>
            <a:ext cx="3456432" cy="36255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addReflection(vec3 reflDir, float gloss)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vec2 fragUV = gl_FragCoord.xy / uSSRScreenSize;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vec4 reflClip = uSSRViewProj *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vec4(vPositionW + reflDir * 20.0, 1.0);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vec2 reflUV = (reflClip.xy/reflClip.w)*0.5+0.5;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vec2 dir   = reflUV - fragUV;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fSteps = clamp(length(dir*uSSRScreenSize)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* 0.25, 4.0, 48.0);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1; i &lt;= 48; i++)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vec2 sampleUV = fragUV + dir/fSteps * float(i);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vec3 c = texture2D(uSSRScene, sampleUV).rgb;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(dot(c, vec3(1.0)) &gt; 0.15)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float edge = smoothstep(0.0, 0.08,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min(min(sampleUV, 1.0-sampleUV).x,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min(sampleUV, 1.0-sampleUV).y));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dReflection += vec4(c,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material_reflectivity * edge); break;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SSR Limitations &amp; Mitigations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14984"/>
            <a:ext cx="4023360" cy="36576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06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Off-screen objects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12064" y="13624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behind the camera or outside the frustum have no pixel data — their reflected colour is unavailable.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066544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066544"/>
            <a:ext cx="402336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579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Occluded objects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" y="24140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hidden behind other geometry from the camera's view cannot be reflected even if visible from the mesh.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3118104"/>
            <a:ext cx="40233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3118104"/>
            <a:ext cx="4023360" cy="36576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209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Screen-edge artefacts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" y="34655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that march toward the edge of the screen hit missing data, producing black halos near borders.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014984"/>
            <a:ext cx="4023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106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Built-In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435608"/>
            <a:ext cx="4023360" cy="914400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527048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Edge fade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edge = smoothstep(0.0, 0.08,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min(edgeDist.x, edgeDist.y));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Gloss fade — rough hides missing data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glossFade = smoothstep(0.0, 0.6, gloss);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496312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87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SSR is sufficient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286207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highly-visible 3DGS scenes — most directions visible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Rough/matte materials (gloss &lt; 0.5) — blur hides gaps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camera FOV — more of the scene captured on screen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54914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SSR misses → automatically fall through to Reflection Probe (Tier 2)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Reflection Probe: 6-Face Cube Capture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14984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 Angles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(0°, 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(0°, 180°,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(0°, 90°,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(0°, 270°,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(−90°, 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+Y  ← was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(+90°, 0°, 0°)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−Y  ← was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014984"/>
            <a:ext cx="4187952" cy="3808476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0016" y="1106424"/>
            <a:ext cx="3959352" cy="36255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Hook prerender to override camera AFTER update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new Promise(resolve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scene.app.once("prerender", ()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entity.setLocalPosition(worldPos);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entity.setLocalEulerAngles(pitch, yaw, roll);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Refit clip planes for this direction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scene.camera.fitClippingPlanes(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entity.getLocalPosition(), entity.forward);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resolve();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 for frame to finish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new Promise(resolve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scene.app.once("postrender", resolve);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rendered color buffer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srcTex = colorTarget.colorBuffer;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reprojectTexture(srcTex, equirect, { numSamples: 4 });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84048" y="3346704"/>
            <a:ext cx="4114800" cy="8686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34107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064" y="36484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diagonal angles [-50°,45°] / [50°,225°] skipped the +Y and −Y hemisphere faces, producing black patches when viewing a mirror from above or below. Replaced with 6 orthogonal cube-map faces.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Captures to a Pre-filtered IBL Atlas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40233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78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Perspective Frame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" y="13075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colorTarget.colorBuffer — rendered 3DGS scene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reprojectTexture()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8836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Reproject each frame into 256×128 equirect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2258568"/>
            <a:ext cx="40233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3225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Equirectangular Texture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5511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cube face, PIXELFORMAT_RGBA8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generatePrefilteredAtlas()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127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EnvLighting.generatePrefilteredAtlas([...equirects])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502152"/>
            <a:ext cx="402336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566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envAtlas Texture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" y="37947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mip levels — sharp to diffuse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1014984"/>
            <a:ext cx="4187952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1064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Level → Roughness Mapping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0016" y="1426464"/>
            <a:ext cx="3291840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4264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426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gloss=1.0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65008" y="1426464"/>
            <a:ext cx="219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mirror reflection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0016" y="1792224"/>
            <a:ext cx="3017520" cy="292608"/>
          </a:xfrm>
          <a:prstGeom prst="rect">
            <a:avLst/>
          </a:prstGeom>
          <a:solidFill>
            <a:srgbClr val="4488CC"/>
          </a:solidFill>
          <a:ln w="12700">
            <a:solidFill>
              <a:srgbClr val="4488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1792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gloss=0.8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90688" y="1792224"/>
            <a:ext cx="493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blurred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0016" y="2157984"/>
            <a:ext cx="2743200" cy="292608"/>
          </a:xfrm>
          <a:prstGeom prst="rect">
            <a:avLst/>
          </a:prstGeom>
          <a:solidFill>
            <a:srgbClr val="3366AA"/>
          </a:solidFill>
          <a:ln w="12700">
            <a:solidFill>
              <a:srgbClr val="3366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1579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0" y="21579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gloss=0.6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516368" y="2157984"/>
            <a:ext cx="768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blurred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0016" y="2523744"/>
            <a:ext cx="2468880" cy="292608"/>
          </a:xfrm>
          <a:prstGeom prst="rect">
            <a:avLst/>
          </a:prstGeom>
          <a:solidFill>
            <a:srgbClr val="224488"/>
          </a:solidFill>
          <a:ln w="12700">
            <a:solidFill>
              <a:srgbClr val="224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523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25237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gloss=0.3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42048" y="2523744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blurred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0016" y="2889504"/>
            <a:ext cx="219456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2889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2889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gloss=0.0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7728" y="2889504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diffuse / matte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392424"/>
            <a:ext cx="4187952" cy="1536192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3483864"/>
            <a:ext cx="395935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Apply atlas to StandardMaterial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mat.envAtlas    = atlas;  // our baked probe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mat.useSkybox   = false;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mat.metalness   = 1.0;   // pure metal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mat.gloss       = 1.0;   // mirror smooth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mat.reflectivity = 1.0;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PlayCanvas samples correct mip for roughness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Probe — Re-baking When the Object Moves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8375904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69848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baked IBL atlas is static. Moving the mesh does not update the reflection — it always shows the original capture position.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09344"/>
            <a:ext cx="4297680" cy="2560320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00784"/>
            <a:ext cx="4069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mesh-gizmo.ts — transform:end handler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gizmo.on("transform:end", ()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Remove pointer-capture blocker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canvas.removeEventListener("pointermove", blockMove, true);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SSR is always live (per-frame), no re-bake needed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ssrActive = !!(scene as any).ssrPass?.ssrSceneTexture;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(!ssrActive &amp;&amp; this.mesh)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Re-capture probe at the new world position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this.mesh.captureReflection();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609344"/>
            <a:ext cx="3913632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700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4336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transform:end fires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57216" y="2295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 active?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31536" y="2569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YES: skip (SSR is always live)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31536" y="2843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NO: captureReflection()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05856" y="3118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captureReflectionProbe()  [6 async frames]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05856" y="3392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fallback: captureSceneEnv()  [1 frame]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57216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envAtlas applied at new position  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4306824"/>
            <a:ext cx="8375904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370832"/>
            <a:ext cx="8119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6-face async capture takes ~6 rendered frames (~100ms at 60fps). During capture the screen is frozen — invisible to the user at interactive speeds.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Screen Capture Fallback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4114800" cy="457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used:  Probe fails (camera not ready), or as instant startup env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609344"/>
            <a:ext cx="4114800" cy="3214116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00784"/>
            <a:ext cx="3886200" cy="30312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mesh-cubemap.ts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srcTex = cam.colorTarget.colorBuffer;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Screen RGBA buffer (perspective projection)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equirect = new Texture(device,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width: 512, height: 256,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projection: TEXTUREPROJECTION_EQUIRECT,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format: PIXELFORMAT_RGBA8,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Reproject 2D screen → equirect sphere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reprojectTexture(srcTex, equirect,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numSamples: 8 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Build prefiltered atlas from single equirect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atlas =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EnvLighting.generatePrefilteredAtlas([equirect]);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mat.envAtlas = atlas;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14984"/>
            <a:ext cx="409651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106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Partial Coverage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91456" y="14173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frustum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673352"/>
            <a:ext cx="2560320" cy="100584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728216"/>
            <a:ext cx="2560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Visible on 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(SSR / fallback works)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73352"/>
            <a:ext cx="804672" cy="1005840"/>
          </a:xfrm>
          <a:prstGeom prst="rect">
            <a:avLst/>
          </a:prstGeom>
          <a:solidFill>
            <a:srgbClr val="2A1A1A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28216"/>
            <a:ext cx="8046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65008" y="1673352"/>
            <a:ext cx="585216" cy="1005840"/>
          </a:xfrm>
          <a:prstGeom prst="rect">
            <a:avLst/>
          </a:prstGeom>
          <a:solidFill>
            <a:srgbClr val="2A1A1A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1728216"/>
            <a:ext cx="5852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044952"/>
            <a:ext cx="4096512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1363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acceptable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339242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/ matte materials (gloss &lt; 0.5) — heavy mip blur hides missing directions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startup — fallback fires in 1 frame vs 6 for probe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where camera always faces the scene (most content is on-screen)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Material Presets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14984"/>
          <a:ext cx="837590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1051560"/>
                <a:gridCol w="960120"/>
                <a:gridCol w="960120"/>
                <a:gridCol w="3063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mirror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+ reflective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tint, near-mirror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Brushed 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Diffuse + slight gloss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water ripple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3B34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GLB/GLTF own PBR materials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4048" y="454914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presets use StandardMaterial with useMetalness = true (PBR metallic-roughness workflow, identical to glTF 2.0)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— Pointer Capture Conflict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8375904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51560"/>
            <a:ext cx="8119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controller calls setPointerCapture() on canvas-container, hijacking all pointermove events away from the PlayCanvas gizmo on the inner &lt;canvas&gt;. Result: dragging a handle orbited the camera instead of moving the object.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517904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591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Before Fix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865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pointerdown on canvas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20482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bubbles → canvas-container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22311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camera: setPointerCapture(id)  ← ALL events captured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414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gizmo fires transform:start (too late)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pointermove → only canvas-container receives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2779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gizmo on &lt;canvas&gt;: never fires ✗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2064" y="29626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camera orbits instead ✗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5152" y="1517904"/>
            <a:ext cx="41148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591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After Fix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1865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pointerdown on canvas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0482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CAPTURE phase: record pointerId  ← our listener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2311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bubble → canvas-container: setPointerCapture(id)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414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gizmo fires transform:start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73168" y="2596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releasePointerCapture(id)  ← unlock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779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pointermove blocker on canvas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29626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pointermove → canvas receives; gizmo moves ✓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300984"/>
            <a:ext cx="8375904" cy="1737360"/>
          </a:xfrm>
          <a:prstGeom prst="rect">
            <a:avLst/>
          </a:prstGeom>
          <a:solidFill>
            <a:srgbClr val="0D1A26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3392424"/>
            <a:ext cx="81473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Record pointerId before camera handler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canvasContainer.addEventListener("pointerdown", (e)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activePointerId = e.pointerId;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true);   // ← capture phase fires first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On gizmo start: release camera capture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gizmo.on("transform:start", ()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canvasContainer.releasePointerCapture(activePointerId);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canvas.addEventListener("pointermove", blockMove, true);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On end: remove blocker; pointerup resets camera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gizmo.on("transform:end", () =&gt; {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canvas.removeEventListener("pointermove", blockMove, true);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14984"/>
            <a:ext cx="2560320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1498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Mesh Object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256032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465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MeshElement.add()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40864"/>
            <a:ext cx="265176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4323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Active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734056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ssrChunk into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StandardMaterial.chunks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Ray-march per frame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dReflection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122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340864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340864"/>
            <a:ext cx="265176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4323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Capture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734056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async renders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EnvLighting.atlas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mat.envAtlas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1122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340864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340864"/>
            <a:ext cx="265176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4323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734056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1-frame reproject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equirect atlas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but partial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1122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22219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32504"/>
            <a:ext cx="84124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32504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Drags Gizmo  →  transform:start: releasePointerCapture  →  transform:move: fire mesh.transform.changed  →  transform:end: re-capture probe at new position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Method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14984"/>
          <a:ext cx="8375904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64592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Cost/Frame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Off-screen?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on-screen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~0ms  (shader)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Always live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(6-face)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sphere, physically 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frames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Re-bakes on move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360°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8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1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frame async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Black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2980944"/>
            <a:ext cx="40233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2980944"/>
            <a:ext cx="402336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2064" y="3072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3DGS scenes with loaded splats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3456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SSR — the 3DGS color buffer is already in screen space. Ray-march cost is minimal and reflections update every frame with no additional work.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08576" y="2980944"/>
            <a:ext cx="40233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2980944"/>
            <a:ext cx="402336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3072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accurate full-sphere reflections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36592" y="34564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Probe — captures all 6 directions around the object's world position. Automatically re-bakes when the user moves the object via the gizmo.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14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399032"/>
            <a:ext cx="4023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990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SSR cannot reflect objects outside the camera frustum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965960"/>
            <a:ext cx="4023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9659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Probe re-bake takes ~6 frames (~100ms brief screen freeze)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532888"/>
            <a:ext cx="4023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5328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inter-mesh reflections (mirror ball cannot reflect another mirror ball)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099816"/>
            <a:ext cx="4023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09981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GLB original materials are not enhanced with probe IBL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666744"/>
            <a:ext cx="402336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6667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probe per mesh — no spatial blending between positions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014984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399032"/>
            <a:ext cx="4096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399032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43560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SSR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1636776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frames to reduce noise and hide edge gaps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965960"/>
            <a:ext cx="4096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965960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025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cube-map target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203704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live probe — no async bake at all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32888"/>
            <a:ext cx="4096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532888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56946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Denoised probe blending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770632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cross-fade between old/new atlas on move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099816"/>
            <a:ext cx="4096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99816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13639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reflections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337560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floor/ceiling reflections via reflection matrix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666744"/>
            <a:ext cx="4096512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666744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703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Multi-probe blending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3168" y="390448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env per position — blend as mesh moves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14984"/>
            <a:ext cx="269748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106424"/>
            <a:ext cx="292608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1064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Layers = The Only Correct Compositor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1517904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z-index has no effect on WebGL layer ordering. Inserting a meshLayer after splatLayer is the only reliable way to place PBR objects on top of a 3DGS scene.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014984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014984"/>
            <a:ext cx="2697480" cy="3657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8416" y="1106424"/>
            <a:ext cx="292608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75888" y="11064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3DGS is Ideal for Screen-Space Reflections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1517904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3DGS scene is already a rasterised color buffer in screen space. SSR ray-marching requires no extra geometry — just sample the pre-rendered frame.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53328" y="1014984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1014984"/>
            <a:ext cx="2697480" cy="36576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106424"/>
            <a:ext cx="292608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0528" y="11064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Materials Need a Pre-filtered IBL Atlas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63056" y="1517904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split-sum approximation (Karis 2013) separates environment lighting into a specular pre-filter (our probe) and a BRDF LUT. Both are required for correct PBR.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615184"/>
            <a:ext cx="2697480" cy="36576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" y="2706624"/>
            <a:ext cx="292608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27066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setPointerCapture Breaks Child Element Events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" y="3118104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capture on a parent div redirects ALL subsequent events — child elements (including the gizmo's canvas) stop receiving pointermove. Release capture on transform:start.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18688" y="2615184"/>
            <a:ext cx="2697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18688" y="2615184"/>
            <a:ext cx="2697480" cy="36576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8416" y="2706624"/>
            <a:ext cx="292608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75888" y="27066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3-Tier Fallback Chain = Robust Coverage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28416" y="3118104"/>
            <a:ext cx="24780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for real-time accuracy → Probe for full-sphere IBL → Screen capture for zero-cost startup. Each tier covers the previous one's blind spots.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20040"/>
            <a:ext cx="45720" cy="5303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320040"/>
            <a:ext cx="8266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50392"/>
            <a:ext cx="8375904" cy="16459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14984"/>
            <a:ext cx="54864" cy="47548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3327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Kerbl, B. et al. (2023)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"3D Gaussian Splatting for Real-Time Radiance Field Rendering"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SIGGRAPH 2023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609344"/>
            <a:ext cx="54864" cy="47548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2763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Karis, B. &amp; Epic Games (2013)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82880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 Shading in Unreal Engine 4" — split-sum PBR approximation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198424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2013 Physically Based Shading Course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03704"/>
            <a:ext cx="54864" cy="47548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22199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McGuire, M. et al. (2017)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42316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"Screen-Space Ray Tracing"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57860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Computer Graphics Techniques (JCGT) Vol. 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798064"/>
            <a:ext cx="54864" cy="47548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1635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Lagarde, S. &amp; de Rousiers, C. (2014)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01752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"Moving Frostbite to Physically Based Rendering 3.0"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317296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2014 Physically Based Shading Course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392424"/>
            <a:ext cx="54864" cy="47548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41071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PlayCanvas Engine Documentation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1188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TransformGizmo, StandardMaterial, EnvLighting 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76732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https://api.playcanvas.com/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986784"/>
            <a:ext cx="54864" cy="4754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005072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4206240"/>
            <a:ext cx="8193024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Element.setPointerCapture() / releasePointerCapture()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4361688"/>
            <a:ext cx="8193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https://developer.mozilla.org/en-US/docs/Web/API/Element/setPointerCapture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759452"/>
            <a:ext cx="9144000" cy="228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9602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Reflective Mesh Objects in a 3D Gaussian Splatting Scene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Reflective Mesh Objects in a 3DGS Scene</dc:title>
  <dc:subject>PptxGenJS Presentation</dc:subject>
  <dc:creator>Pawat Chunhachatrachai</dc:creator>
  <cp:lastModifiedBy>Pawat Chunhachatrachai</cp:lastModifiedBy>
  <cp:revision>1</cp:revision>
  <dcterms:created xsi:type="dcterms:W3CDTF">2026-05-19T01:40:22Z</dcterms:created>
  <dcterms:modified xsi:type="dcterms:W3CDTF">2026-05-19T01:40:22Z</dcterms:modified>
</cp:coreProperties>
</file>